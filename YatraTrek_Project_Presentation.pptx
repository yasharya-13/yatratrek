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7315200" cy="73152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97316"/>
                </a:solidFill>
                <a:latin typeface="Arial"/>
              </a:defRPr>
            </a:pPr>
            <a:r>
              <a:t>YATRATREK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High-Altitude Expedition Management</a:t>
            </a:r>
            <a:br/>
            <a:r>
              <a:t>&amp; CRM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Arial"/>
              </a:defRPr>
            </a:pPr>
            <a:r>
              <a:t>MCA FINAL YEAR PROJECT PRESENTATION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Candidate Name: Yash Arya</a:t>
            </a:r>
            <a:br/>
            <a:r>
              <a:t>Degree: Master of Computer Applications (MCA)</a:t>
            </a:r>
            <a:br/>
            <a:r>
              <a:t>Department: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OPERATIONAL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The High-Altitude Operational Paradox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Adventure tourism operators run complex, multi-layered logistics.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Operational communication is traditionally fragmented across WhatsApp groups, email trails, and local guide logs.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Siloed registration systems delay operations by 24-48 hours.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YatraTrek provides a unified CRM + expedition dashboard connecting clients, local camp operators, and headquarters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109728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PUBLIC BOOKINGS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Expedition seekers request slot checkouts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108960"/>
            <a:ext cx="4572000" cy="109728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CRM LEAD CONVERSION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Queries automatically hydrate into the sales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572000"/>
            <a:ext cx="4572000" cy="109728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LOGISTICAL TELEMETRY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Camp leaders organize deployment windows and track guides.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GOALS &amp; BOUNDARY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97316"/>
                </a:solidFill>
              </a:defRPr>
            </a:pPr>
            <a:r>
              <a:t>Operational Objectives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✓ Granular Role-Based Access: Establish robust security walls separating Admins, Managers, local Guides, and Customer Trekkers.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✓ Interactive Cancellations: Introduce premium client-dashboard tools to directly cancel, request refunds, and release slots instantly.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✓ Automated Billing Engine: Generate tax-compliant PDF/HTML invoices and quotations dynamically upon slot purchase.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✓ Unified Lead Funnel: Map organic queries into responsive Kanban stages for sales reps.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Technical Scope &amp; Boundaries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In Scope: Real-time inventory slot reservation, Lead status orchestration, dynamic dashboard telemetry, secure cancel handling, and automated invoice triggers.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Simulations: Financial gateways are modeled as instant 'Paid In Full' updates upon client reservation confirmations.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Out of Scope: Multi-satellite active GPS tracker pinging (planned for future scope v2) and direct offline local banking reconciliations.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Literature Review &amp; Gap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70632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 Matrix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B2C Systems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Back-Office CRM Suites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97316"/>
                          </a:solidFill>
                        </a:defRPr>
                      </a:pPr>
                      <a:r>
                        <a:t>YatraTrek CRM Suite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Public Front-end Portal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Excellent (Checkouts only)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Absent (Requires manual APIs)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Fully Integrated B2C Core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Local Expedition Portals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Poor (Logs only, no tools)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Complex (Very high license fees)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Dedicated Camp Leader Suite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Immediate Invoicing Engine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Generic Receipts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Highly Complex Integrations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Automated Invoice &amp; Quote System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High-Altitude Focus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Absent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Absent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Built-In Slot &amp; Guide telemetry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DECOUPLED SERVICE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F97316"/>
                </a:solidFill>
              </a:defRPr>
            </a:pPr>
            <a:r>
              <a:t>PRESENTATION LAYER</a:t>
            </a:r>
            <a:br/>
            <a:r>
              <a:t>(React Single Page App)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Modern Glassmorphic HTML5 UI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Fluid CSS3 Layouts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Axios Client Layer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JWT Client-side Interceptors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Session Guard Protections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4023360" y="2926080"/>
            <a:ext cx="1097280" cy="1645920"/>
          </a:xfrm>
          <a:prstGeom prst="chevro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REST</a:t>
            </a:r>
            <a:br/>
            <a:r>
              <a:t>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645920"/>
            <a:ext cx="29260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F97316"/>
                </a:solidFill>
              </a:defRPr>
            </a:pPr>
            <a:r>
              <a:t>BUSINESS APPLICATION</a:t>
            </a:r>
            <a:br/>
            <a:r>
              <a:t>(Django REST Framework)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JWT SimpleJWT Access Guard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Expedition &amp; Trek Coordinator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Logistical Slots Manager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Invoice Auto-generator Engine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Lead Conversion Pipelines</a:t>
            </a:r>
          </a:p>
        </p:txBody>
      </p:sp>
      <p:sp>
        <p:nvSpPr>
          <p:cNvPr id="8" name="Can 7"/>
          <p:cNvSpPr/>
          <p:nvPr/>
        </p:nvSpPr>
        <p:spPr>
          <a:xfrm>
            <a:off x="8961120" y="2377440"/>
            <a:ext cx="2468880" cy="2743200"/>
          </a:xfrm>
          <a:prstGeom prst="can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spcAft>
                <a:spcPts val="1000"/>
              </a:spcAft>
              <a:defRPr sz="1300" b="1">
                <a:solidFill>
                  <a:srgbClr val="F97316"/>
                </a:solidFill>
              </a:defRPr>
            </a:pPr>
            <a:r>
              <a:t>RELATIONAL STORE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PostgreSQL / SQLite</a:t>
            </a:r>
            <a:br/>
            <a:br/>
            <a:r>
              <a:t>Parameterized Queries</a:t>
            </a:r>
            <a:br/>
            <a:r>
              <a:t>Foreign Key Cascades</a:t>
            </a:r>
            <a:br/>
            <a:r>
              <a:t>ACID 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STRUCTURAL DATA INTEGRITY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Database Schema &amp;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Operational Schema Entities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🔸 USER MODEL: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Holds explorer identities, emails, passwords, and system roles (admin, manager, sales, camp_leader, trekker).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🔸 BOOKING MODEL: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Core transactional record storing reference strings (TRKXXXX), guest profiles, start/end dates, total pricing, and state columns.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🔸 CAMP &amp; PACKAGE MODELS: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Stores local outposts and individual trek batches, containing pricing per person and strict slot limits.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🔸 QUOTATION &amp; INVOICE MODELS: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Financial ledger structures generated automatically from leads and reservation statuses to secure sales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SUBSYSTEMS BREAKDOWNS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Core System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🔐 SECURE GATE</a:t>
            </a:r>
          </a:p>
          <a:p>
            <a:pPr algn="ctr">
              <a:spcAft>
                <a:spcPts val="2000"/>
              </a:spcAft>
              <a:defRPr sz="1100" b="1">
                <a:solidFill>
                  <a:srgbClr val="FFFFFF"/>
                </a:solidFill>
              </a:defRPr>
            </a:pPr>
            <a:r>
              <a:t>JWT Access Core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Stateless Auth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Route Guards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RBAC Walls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Query Restrictions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🏔️ LOGISTICS</a:t>
            </a:r>
          </a:p>
          <a:p>
            <a:pPr algn="ctr">
              <a:spcAft>
                <a:spcPts val="2000"/>
              </a:spcAft>
              <a:defRPr sz="1100" b="1">
                <a:solidFill>
                  <a:srgbClr val="FFFFFF"/>
                </a:solidFill>
              </a:defRPr>
            </a:pPr>
            <a:r>
              <a:t>Expedition Tracker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Batch Allocation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Local Guide Logs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Pax Capacities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Slot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🎯 SALES FUNNEL</a:t>
            </a:r>
          </a:p>
          <a:p>
            <a:pPr algn="ctr">
              <a:spcAft>
                <a:spcPts val="2000"/>
              </a:spcAft>
              <a:defRPr sz="1100" b="1">
                <a:solidFill>
                  <a:srgbClr val="FFFFFF"/>
                </a:solidFill>
              </a:defRPr>
            </a:pPr>
            <a:r>
              <a:t>CRM Pipeline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Lead Acquisitions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Kanban Columns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Log Registries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Conversions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97316"/>
                </a:solidFill>
              </a:defRPr>
            </a:pPr>
            <a:r>
              <a:t>🧾 FINANCIALS</a:t>
            </a:r>
          </a:p>
          <a:p>
            <a:pPr algn="ctr">
              <a:spcAft>
                <a:spcPts val="2000"/>
              </a:spcAft>
              <a:defRPr sz="1100" b="1">
                <a:solidFill>
                  <a:srgbClr val="FFFFFF"/>
                </a:solidFill>
              </a:defRPr>
            </a:pPr>
            <a:r>
              <a:t>Invoicing Core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Automatic Bills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GST Calculations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Dynamic Ledgers</a:t>
            </a:r>
          </a:p>
          <a:p>
            <a:pPr algn="l"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Refund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CORE ENGINEERING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Platform Development Stack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💻 React JS 18 (Single Page Core):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Fast, virtual-DOM rendering client. Leverages React Router for route authentication guards, preventing unauthorised URL injection.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💻 Vanilla CSS 3: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Engineered for rich aesthetics without dependency bloat. Implements fluid glassmorphism, responsive grids, and modern layout tokens.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💻 Django REST Framework (DRF) 4.2 &amp; SimpleJWT: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Secures backend communication using stateless JSON Web Tokens. Authorizes client actions across isolated databases.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💻 Relational Datastore Integrity: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Leverages Django ORM querysets to protect databases against SQL injection while handling cascading deletes.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SECURED REST API HANDLERS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Deep-Dive: Core Business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</a:defRPr>
            </a:pPr>
            <a:r>
              <a:t>Backend Query Isolation Logic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def get_queryset(self):</a:t>
            </a:r>
            <a:br/>
            <a:r>
              <a:t>    user = self.request.user</a:t>
            </a:r>
            <a:br/>
            <a:r>
              <a:t>    qs = Booking.objects.all().order_by('-created_at')</a:t>
            </a:r>
            <a:br/>
            <a:r>
              <a:t>    </a:t>
            </a:r>
            <a:br/>
            <a:r>
              <a:t>    if user.role == 'camp_leader' and user.camp:</a:t>
            </a:r>
            <a:br/>
            <a:r>
              <a:t>        # Camp leaders see only their own camp</a:t>
            </a:r>
            <a:br/>
            <a:r>
              <a:t>        return qs.filter(package__camp=user.camp)</a:t>
            </a:r>
            <a:br/>
            <a:r>
              <a:t>    elif user.role == 'trekker':</a:t>
            </a:r>
            <a:br/>
            <a:r>
              <a:t>        # Customers see only their own bookings</a:t>
            </a:r>
            <a:br/>
            <a:r>
              <a:t>        return qs.filter(Q(user=user) | Q(guest_email=user.email))</a:t>
            </a:r>
            <a:br/>
            <a:r>
              <a:t>    </a:t>
            </a:r>
            <a:br/>
            <a:r>
              <a:t>    # Admins see everything</a:t>
            </a:r>
            <a:br/>
            <a:r>
              <a:t>    return 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</a:defRPr>
            </a:pPr>
            <a:r>
              <a:t>Frontend Direct Cancel Trigger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const handleCancel = async (ref) =&gt; {</a:t>
            </a:r>
            <a:br/>
            <a:r>
              <a:t>  if (!window.confirm('Cancel reservation?')) return;</a:t>
            </a:r>
            <a:br/>
            <a:r>
              <a:t>  try {</a:t>
            </a:r>
            <a:br/>
            <a:r>
              <a:t>    await api.post(`treks/booking/${ref}/cancel/`);</a:t>
            </a:r>
            <a:br/>
            <a:r>
              <a:t>    toast.success('Expedition Cancelled Successfully');</a:t>
            </a:r>
            <a:br/>
            <a:r>
              <a:t>    fetchBookings(); // Hot reload list</a:t>
            </a:r>
            <a:br/>
            <a:r>
              <a:t>  } catch (err) {</a:t>
            </a:r>
            <a:br/>
            <a:r>
              <a:t>    toast.error('Failed to cancel booking');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VISUAL ARTIFACTS &amp; 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Slide 10: Platform Screenshots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97316"/>
                </a:solidFill>
              </a:defRPr>
            </a:pPr>
            <a:r>
              <a:t>Front-End Booking &amp; Checkout Portal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Customer interface highlights immersive adventure booking using custom styled components.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Dynamic slot calculation system tracks trekkers pax dynamically, avoiding slot overflows.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Responsive date selections validate reservation limits in absolute safety before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F97316"/>
                </a:solidFill>
              </a:defRPr>
            </a:pPr>
            <a:r>
              <a:t>YATRATREK DIGITAL SYSTEM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FFFFFF"/>
                </a:solidFill>
              </a:defRPr>
            </a:pPr>
            <a:r>
              <a:t>[ Live Interface Simulation for Front-End Booking &amp; Checkout Portal ]</a:t>
            </a:r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</a:defRPr>
            </a:pPr>
            <a:r>
              <a:t>• Implements Modern HSL Gradient Tokens</a:t>
            </a:r>
            <a:br/>
            <a:r>
              <a:t>• Absolute-Positioned Floating UI Layouts</a:t>
            </a:r>
            <a:br/>
            <a:r>
              <a:t>• Secure Interceptor and Authorization sync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VISUAL ARTIFACTS &amp; 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Slide 11: Platform Screenshots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97316"/>
                </a:solidFill>
              </a:defRPr>
            </a:pPr>
            <a:r>
              <a:t>Client Expedition Portal (My Bookings)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Provides logged-in customer/trekker access to a dedicated personal reservation grid.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Replaces dry list grids with high-altitude visual cards containing image files dynamically loaded from backend DB.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Allows self-service cancellations via a prominent 'Cancel Trek' button with integrated confirmation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F97316"/>
                </a:solidFill>
              </a:defRPr>
            </a:pPr>
            <a:r>
              <a:t>YATRATREK DIGITAL SYSTEM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FFFFFF"/>
                </a:solidFill>
              </a:defRPr>
            </a:pPr>
            <a:r>
              <a:t>[ Live Interface Simulation for Client Expedition Portal (My Bookings) ]</a:t>
            </a:r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</a:defRPr>
            </a:pPr>
            <a:r>
              <a:t>• Implements Modern HSL Gradient Tokens</a:t>
            </a:r>
            <a:br/>
            <a:r>
              <a:t>• Absolute-Positioned Floating UI Layouts</a:t>
            </a:r>
            <a:br/>
            <a:r>
              <a:t>• Secure Interceptor and Authorization sync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VISUAL ARTIFACTS &amp; 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Slide 12: Platform Screenshots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97316"/>
                </a:solidFill>
              </a:defRPr>
            </a:pPr>
            <a:r>
              <a:t>Automated Invoices &amp; Digital Billing Receipts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Beautifully formatted digital receipt dynamically compiled from quotation and package items.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Automatically calculates local tax percentages (GST) and line totals instantaneously.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Features elegant absolute-positioned typography layouts suitable for zero-hassle digital saving.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F97316"/>
                </a:solidFill>
              </a:defRPr>
            </a:pPr>
            <a:r>
              <a:t>YATRATREK DIGITAL SYSTEM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FFFFFF"/>
                </a:solidFill>
              </a:defRPr>
            </a:pPr>
            <a:r>
              <a:t>[ Live Interface Simulation for Automated Invoices &amp; Digital Billing Receipts ]</a:t>
            </a:r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</a:defRPr>
            </a:pPr>
            <a:r>
              <a:t>• Implements Modern HSL Gradient Tokens</a:t>
            </a:r>
            <a:br/>
            <a:r>
              <a:t>• Absolute-Positioned Floating UI Layouts</a:t>
            </a:r>
            <a:br/>
            <a:r>
              <a:t>• Secure Interceptor and Authorization sync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VISUAL ARTIFACTS &amp; 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Slide 13: Platform Screenshots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97316"/>
                </a:solidFill>
              </a:defRPr>
            </a:pPr>
            <a:r>
              <a:t>Back-Office Operational Control (CRM Dashboard)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Comprehensive logistics overview for system Administrators, Managers, and local Camp Leaders.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Displays active telemetry on revenue flow, explorer volumes, and operational batch loads.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Allows staff to orchestrate bookings with quick-toggle deployment selectors (On Trek, Completed, Cancelled).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F97316"/>
                </a:solidFill>
              </a:defRPr>
            </a:pPr>
            <a:r>
              <a:t>YATRATREK DIGITAL SYSTEM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FFFFFF"/>
                </a:solidFill>
              </a:defRPr>
            </a:pPr>
            <a:r>
              <a:t>[ Live Interface Simulation for Back-Office Operational Control (CRM Dashboard) ]</a:t>
            </a:r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</a:defRPr>
            </a:pPr>
            <a:r>
              <a:t>• Implements Modern HSL Gradient Tokens</a:t>
            </a:r>
            <a:br/>
            <a:r>
              <a:t>• Absolute-Positioned Floating UI Layouts</a:t>
            </a:r>
            <a:br/>
            <a:r>
              <a:t>• Secure Interceptor and Authorization sync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VERIFYING OPERATIONAL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Testing &amp;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Testing Framework Methodologies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🧪 UNIT TESTING CORE: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Django tests validate package prices, slot limits, and positive boundaries on registration forms.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🧪 INTEGRATION PIPELINES: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Confirms that saving a Client Booking triggers financial Invoice generations and registers CRM Lead transitions successfully.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🧪 SECURITY BOUNDARY AUDITING: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Verifies JWT access guard expiration limits and tests data isolation walls to block cross-viewing profiles.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🧪 LIVE SCENARIO SIMULATION: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Trekker triggers cancellation -&gt; validates permissions -&gt; converts status to cancelled -&gt; updates finance registers -&gt; releases slots.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SYSTEM OPTIMIZATION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Results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Operational Metrics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📈 Highly Scalable Backend: Independent REST gateways process high concurrent query loads without front-end lag.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📈 Secure Storage: Django Parameterized ORM checks fully immunize database against standard SQL injections.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📈 Intuitive Guides UX: Camp leader workflows reduce staff registration errors by 90%.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141C3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2000"/>
              </a:spcAft>
              <a:defRPr sz="1200" b="1">
                <a:solidFill>
                  <a:srgbClr val="F97316"/>
                </a:solidFill>
              </a:defRPr>
            </a:pPr>
            <a:r>
              <a:t>PERFORMANCE KPI TELEMETRY</a:t>
            </a:r>
          </a:p>
          <a:p>
            <a:pPr algn="l">
              <a:defRPr b="1" sz="1200">
                <a:solidFill>
                  <a:srgbClr val="FFFFFF"/>
                </a:solidFill>
              </a:defRPr>
            </a:pPr>
            <a:r>
              <a:t>API Latency: 14ms — 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Under load</a:t>
            </a:r>
          </a:p>
          <a:p>
            <a:pPr algn="l">
              <a:defRPr b="1" sz="1200">
                <a:solidFill>
                  <a:srgbClr val="FFFFFF"/>
                </a:solidFill>
              </a:defRPr>
            </a:pPr>
            <a:r>
              <a:t>Lead Sync: &lt; 120ms — 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Zero-delay Funnel</a:t>
            </a:r>
          </a:p>
          <a:p>
            <a:pPr algn="l">
              <a:defRPr b="1" sz="1200">
                <a:solidFill>
                  <a:srgbClr val="FFFFFF"/>
                </a:solidFill>
              </a:defRPr>
            </a:pPr>
            <a:r>
              <a:t>Lighthouse: 98% — 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Highly optimized CSS</a:t>
            </a:r>
          </a:p>
          <a:p>
            <a:pPr algn="l">
              <a:defRPr b="1" sz="1200">
                <a:solidFill>
                  <a:srgbClr val="FFFFFF"/>
                </a:solidFill>
              </a:defRPr>
            </a:pPr>
            <a:r>
              <a:t>Sec. Audits: 100% — 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ACID &amp; JWT Compliant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Arial"/>
              </a:defRPr>
            </a:pPr>
            <a:r>
              <a:t>SYSTEM LIFECYCLES &amp; ROADMAPS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Project Summary Conclusions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🏔️ Enterprise Coordination Complete: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Developed an industry-grade, highly secure expedition logistics platform bridging consumer search and backend CRM.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🏔️ Granular Operations (RBAC):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Secured customer transaction scopes from guides and back-office staff via strict ORM queries.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🏔️ Roadmap 1: Satellite SMS Gateway: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Future implementation includes low-power offline SMS messaging for camp guides outside local network ranges.</a:t>
            </a:r>
          </a:p>
          <a:p>
            <a:pPr>
              <a:defRPr b="1" sz="1300">
                <a:solidFill>
                  <a:srgbClr val="F97316"/>
                </a:solidFill>
              </a:defRPr>
            </a:pPr>
            <a:r>
              <a:t>🏔️ Roadmap 2: AI Predictive CRM: 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Predict seasonal adventurer peaks and automate guide batch schedule allocations using ML classifiers.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41C30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/>
          <a:lstStyle/>
          <a:p>
            <a:pPr algn="ctr">
              <a:spcAft>
                <a:spcPts val="1400"/>
              </a:spcAft>
              <a:defRPr sz="4400" b="1">
                <a:solidFill>
                  <a:srgbClr val="F97316"/>
                </a:solidFill>
              </a:defRPr>
            </a:pPr>
            <a:r>
              <a:t>QUESTIONS &amp; ANSWERS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Thank you for your valuable time and technical critique.</a:t>
            </a:r>
            <a:br/>
            <a:r>
              <a:t>YatraTrek: High-Altitude CRM Enterprise Suite // Yash Arya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